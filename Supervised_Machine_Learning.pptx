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6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37160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Calibri"/>
              </a:defRPr>
            </a:pPr>
            <a:r>
              <a:t>Supervised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FDBFE"/>
                </a:solidFill>
                <a:latin typeface="Calibri"/>
              </a:defRPr>
            </a:pPr>
            <a:r>
              <a:t>Learning from labeled data to make predictions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3C5FD"/>
                </a:solidFill>
                <a:latin typeface="Calibri"/>
              </a:defRPr>
            </a:pPr>
            <a:r>
              <a:t>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is Machine Learning?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Calibri"/>
              </a:defRPr>
            </a:pPr>
            <a:r>
              <a:t>Machine Learning (ML) enables computers to learn patterns from data — without being explicitly programmed for every rule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Calibri"/>
              </a:defRPr>
            </a:pPr>
            <a:r>
              <a:t>Instead of writing "if-then" rules, we show the computer examples and let it figure out the pattern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Calibri"/>
              </a:defRPr>
            </a:pPr>
            <a:r>
              <a:t>Three main types of ML:</a:t>
            </a:r>
          </a:p>
          <a:p>
            <a:pPr lvl="1">
              <a:spcAft>
                <a:spcPts val="10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Supervised Learning — learn from labeled examples</a:t>
            </a:r>
          </a:p>
          <a:p>
            <a:pPr lvl="1">
              <a:spcAft>
                <a:spcPts val="10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Unsupervised Learning — find hidden patterns in unlabeled data</a:t>
            </a:r>
          </a:p>
          <a:p>
            <a:pPr lvl="1">
              <a:spcAft>
                <a:spcPts val="10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Reinforcement Learning — learn by trial and error with rewards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303520"/>
            <a:ext cx="8046720" cy="82296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44068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56DB"/>
                </a:solidFill>
                <a:latin typeface="Calibri"/>
              </a:defRPr>
            </a:pPr>
            <a:r>
              <a:t>Today we focus on Supervised Learning — the most widely used approach in industry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is Supervised Learning?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Calibri"/>
              </a:defRPr>
            </a:pPr>
            <a:r>
              <a:t>Supervised learning trains a model using input-output pairs (labeled data)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Calibri"/>
              </a:defRPr>
            </a:pPr>
            <a:r>
              <a:t>The "supervisor" is the correct answer (label) provided for each training example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Calibri"/>
              </a:defRPr>
            </a:pPr>
            <a:r>
              <a:t>Goal: learn a mapping function  f(x) → y  so the model can predict y for new, unseen x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Calibri"/>
              </a:defRPr>
            </a:pPr>
            <a:r>
              <a:t>Analogy: Like studying for an exam with an answer key</a:t>
            </a:r>
          </a:p>
          <a:p>
            <a:pPr lvl="1">
              <a:spcAft>
                <a:spcPts val="10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You practice problems (training data) with solutions (labels)</a:t>
            </a:r>
          </a:p>
          <a:p>
            <a:pPr lvl="1">
              <a:spcAft>
                <a:spcPts val="10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Then you solve new problems on your own (predictions)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Components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840480" cy="201168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3566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56DB"/>
                </a:solidFill>
                <a:latin typeface="Calibri"/>
              </a:defRPr>
            </a:pPr>
            <a:r>
              <a:t>Features (X)</a:t>
            </a:r>
          </a:p>
          <a:p>
            <a:pPr>
              <a:spcBef>
                <a:spcPts val="600"/>
              </a:spcBef>
              <a:defRPr sz="1300">
                <a:solidFill>
                  <a:srgbClr val="1F2937"/>
                </a:solidFill>
                <a:latin typeface="Calibri"/>
              </a:defRPr>
            </a:pPr>
            <a:r>
              <a:t>Input variables used to make predictions.</a:t>
            </a:r>
            <a:br/>
            <a:r>
              <a:t>Example: house size, bedrooms, location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79" y="1463040"/>
            <a:ext cx="3840480" cy="201168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92040" y="1600200"/>
            <a:ext cx="3566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9F6E"/>
                </a:solidFill>
                <a:latin typeface="Calibri"/>
              </a:defRPr>
            </a:pPr>
            <a:r>
              <a:t>Labels (Y)</a:t>
            </a:r>
          </a:p>
          <a:p>
            <a:pPr>
              <a:spcBef>
                <a:spcPts val="600"/>
              </a:spcBef>
              <a:defRPr sz="1300">
                <a:solidFill>
                  <a:srgbClr val="1F2937"/>
                </a:solidFill>
                <a:latin typeface="Calibri"/>
              </a:defRPr>
            </a:pPr>
            <a:r>
              <a:t>The correct output we want to predict.</a:t>
            </a:r>
            <a:br/>
            <a:r>
              <a:t>Example: house price, spam/not spam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49039"/>
            <a:ext cx="3840480" cy="201168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886200"/>
            <a:ext cx="3566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Calibri"/>
              </a:defRPr>
            </a:pPr>
            <a:r>
              <a:t>Training Data</a:t>
            </a:r>
          </a:p>
          <a:p>
            <a:pPr>
              <a:spcBef>
                <a:spcPts val="600"/>
              </a:spcBef>
              <a:defRPr sz="1300">
                <a:solidFill>
                  <a:srgbClr val="1F2937"/>
                </a:solidFill>
                <a:latin typeface="Calibri"/>
              </a:defRPr>
            </a:pPr>
            <a:r>
              <a:t>A dataset of (feature, label) pairs used to teach the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79" y="3749039"/>
            <a:ext cx="3840480" cy="201168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3886200"/>
            <a:ext cx="3566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C3AED"/>
                </a:solidFill>
                <a:latin typeface="Calibri"/>
              </a:defRPr>
            </a:pPr>
            <a:r>
              <a:t>Model</a:t>
            </a:r>
          </a:p>
          <a:p>
            <a:pPr>
              <a:spcBef>
                <a:spcPts val="600"/>
              </a:spcBef>
              <a:defRPr sz="1300">
                <a:solidFill>
                  <a:srgbClr val="1F2937"/>
                </a:solidFill>
                <a:latin typeface="Calibri"/>
              </a:defRPr>
            </a:pPr>
            <a:r>
              <a:t>The learned function that maps features → predicted labels.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Two Types of Supervised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Calibri"/>
              </a:defRPr>
            </a:pPr>
            <a:r>
              <a:t>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E9F6E"/>
                </a:solidFill>
                <a:latin typeface="Calibri"/>
              </a:defRPr>
            </a:pPr>
            <a:r>
              <a:t>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Predicts continuous numerical values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Output is a number on a scale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Examples: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House prices ($250,000)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Temperature tomorrow (72°F)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Stock prices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Sales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Predicts discrete categories or classes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Output is a label from a fixed set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Examples: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Spam vs. Not Spam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Cat, Dog, or Bird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Disease: Yes / No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Sentiment: Positive / Negative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Classification in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  <a:latin typeface="Calibri"/>
              </a:defRPr>
            </a:pPr>
            <a:r>
              <a:t>Predicting categories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Binary Classification — two classes (e.g., fraud / not fraud)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Multi-class Classification — three or more classes (e.g., digit 0–9)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Multi-label Classification — multiple labels per input (e.g., tags on a photo)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How it works:</a:t>
            </a:r>
          </a:p>
          <a:p>
            <a:pPr lvl="1">
              <a:spcAft>
                <a:spcPts val="10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Model outputs probabilities for each class</a:t>
            </a:r>
          </a:p>
          <a:p>
            <a:pPr lvl="1">
              <a:spcAft>
                <a:spcPts val="10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The class with the highest probability wins</a:t>
            </a:r>
          </a:p>
          <a:p>
            <a:pPr lvl="1">
              <a:spcAft>
                <a:spcPts val="10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Decision boundary separates classes in feature space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Regression in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  <a:latin typeface="Calibri"/>
              </a:defRPr>
            </a:pPr>
            <a:r>
              <a:t>Predicting continuous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Linear Regression — fits a straight line:  y = mx + b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Polynomial Regression — fits curves for non-linear relationships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Multiple Regression — uses several features simultaneously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Example: Predicting house price</a:t>
            </a:r>
          </a:p>
          <a:p>
            <a:pPr lvl="1">
              <a:spcAft>
                <a:spcPts val="10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Features: sq ft, bedrooms, age, zip code</a:t>
            </a:r>
          </a:p>
          <a:p>
            <a:pPr lvl="1">
              <a:spcAft>
                <a:spcPts val="10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Label: sale price in dollars</a:t>
            </a:r>
          </a:p>
          <a:p>
            <a:pPr lvl="1">
              <a:spcAft>
                <a:spcPts val="10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Model learns weights for each feature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Training Process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651760" cy="201168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2377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56DB"/>
                </a:solidFill>
                <a:latin typeface="Calibri"/>
              </a:defRPr>
            </a:pPr>
            <a:r>
              <a:t>1. Collect Data</a:t>
            </a:r>
          </a:p>
          <a:p>
            <a:pPr>
              <a:spcBef>
                <a:spcPts val="600"/>
              </a:spcBef>
              <a:defRPr sz="1300">
                <a:solidFill>
                  <a:srgbClr val="1F2937"/>
                </a:solidFill>
                <a:latin typeface="Calibri"/>
              </a:defRPr>
            </a:pPr>
            <a:r>
              <a:t>Gather labeled examples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371600"/>
            <a:ext cx="2651760" cy="201168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508760"/>
            <a:ext cx="2377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56DB"/>
                </a:solidFill>
                <a:latin typeface="Calibri"/>
              </a:defRPr>
            </a:pPr>
            <a:r>
              <a:t>2. Preprocess</a:t>
            </a:r>
          </a:p>
          <a:p>
            <a:pPr>
              <a:spcBef>
                <a:spcPts val="600"/>
              </a:spcBef>
              <a:defRPr sz="1300">
                <a:solidFill>
                  <a:srgbClr val="1F2937"/>
                </a:solidFill>
                <a:latin typeface="Calibri"/>
              </a:defRPr>
            </a:pPr>
            <a:r>
              <a:t>Clean, normalize, split train/test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2651760" cy="201168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08760"/>
            <a:ext cx="2377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56DB"/>
                </a:solidFill>
                <a:latin typeface="Calibri"/>
              </a:defRPr>
            </a:pPr>
            <a:r>
              <a:t>3. Choose Model</a:t>
            </a:r>
          </a:p>
          <a:p>
            <a:pPr>
              <a:spcBef>
                <a:spcPts val="600"/>
              </a:spcBef>
              <a:defRPr sz="1300">
                <a:solidFill>
                  <a:srgbClr val="1F2937"/>
                </a:solidFill>
                <a:latin typeface="Calibri"/>
              </a:defRPr>
            </a:pPr>
            <a:r>
              <a:t>Pick an algorithm suited to the task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49039"/>
            <a:ext cx="2651760" cy="201168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886200"/>
            <a:ext cx="2377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56DB"/>
                </a:solidFill>
                <a:latin typeface="Calibri"/>
              </a:defRPr>
            </a:pPr>
            <a:r>
              <a:t>4. Train</a:t>
            </a:r>
          </a:p>
          <a:p>
            <a:pPr>
              <a:spcBef>
                <a:spcPts val="600"/>
              </a:spcBef>
              <a:defRPr sz="1300">
                <a:solidFill>
                  <a:srgbClr val="1F2937"/>
                </a:solidFill>
                <a:latin typeface="Calibri"/>
              </a:defRPr>
            </a:pPr>
            <a:r>
              <a:t>Feed data, minimize prediction error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3749039"/>
            <a:ext cx="2651760" cy="201168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3886200"/>
            <a:ext cx="2377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56DB"/>
                </a:solidFill>
                <a:latin typeface="Calibri"/>
              </a:defRPr>
            </a:pPr>
            <a:r>
              <a:t>5. Evaluate</a:t>
            </a:r>
          </a:p>
          <a:p>
            <a:pPr>
              <a:spcBef>
                <a:spcPts val="600"/>
              </a:spcBef>
              <a:defRPr sz="1300">
                <a:solidFill>
                  <a:srgbClr val="1F2937"/>
                </a:solidFill>
                <a:latin typeface="Calibri"/>
              </a:defRPr>
            </a:pPr>
            <a:r>
              <a:t>Test on held-out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749039"/>
            <a:ext cx="2651760" cy="201168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886200"/>
            <a:ext cx="2377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56DB"/>
                </a:solidFill>
                <a:latin typeface="Calibri"/>
              </a:defRPr>
            </a:pPr>
            <a:r>
              <a:t>6. Deploy</a:t>
            </a:r>
          </a:p>
          <a:p>
            <a:pPr>
              <a:spcBef>
                <a:spcPts val="600"/>
              </a:spcBef>
              <a:defRPr sz="1300">
                <a:solidFill>
                  <a:srgbClr val="1F2937"/>
                </a:solidFill>
                <a:latin typeface="Calibri"/>
              </a:defRPr>
            </a:pPr>
            <a:r>
              <a:t>Use model on real-world inputs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 Splitting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200400"/>
            <a:ext cx="5120640" cy="10972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5120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Training Set</a:t>
            </a:r>
            <a:br/>
            <a:r>
              <a:t>70%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3200400"/>
            <a:ext cx="1371600" cy="1097280"/>
          </a:xfrm>
          <a:prstGeom prst="roundRect">
            <a:avLst/>
          </a:prstGeom>
          <a:solidFill>
            <a:srgbClr val="0E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33832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Validation Set</a:t>
            </a:r>
            <a:br/>
            <a:r>
              <a:t>15%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3200400"/>
            <a:ext cx="1371600" cy="10972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0" y="33832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Test Set</a:t>
            </a:r>
            <a:br/>
            <a:r>
              <a:t>15%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Training Set — used to learn model parameters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Validation Set — tune hyperparameters, prevent overfitting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Test Set — final unbiased evaluation (used only once!)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Never train on test data — that leads to overly optimistic results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Common Algorithms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4023360" cy="146304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3749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56DB"/>
                </a:solidFill>
                <a:latin typeface="Calibri"/>
              </a:defRPr>
            </a:pPr>
            <a:r>
              <a:t>Linear / Logistic Regression</a:t>
            </a:r>
          </a:p>
          <a:p>
            <a:pPr>
              <a:spcBef>
                <a:spcPts val="600"/>
              </a:spcBef>
              <a:defRPr sz="1300">
                <a:solidFill>
                  <a:srgbClr val="1F2937"/>
                </a:solidFill>
                <a:latin typeface="Calibri"/>
              </a:defRPr>
            </a:pPr>
            <a:r>
              <a:t>Simple, interpretable baseline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371600"/>
            <a:ext cx="4023360" cy="146304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92040" y="1508760"/>
            <a:ext cx="3749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9F6E"/>
                </a:solidFill>
                <a:latin typeface="Calibri"/>
              </a:defRPr>
            </a:pPr>
            <a:r>
              <a:t>Decision Trees</a:t>
            </a:r>
          </a:p>
          <a:p>
            <a:pPr>
              <a:spcBef>
                <a:spcPts val="600"/>
              </a:spcBef>
              <a:defRPr sz="1300">
                <a:solidFill>
                  <a:srgbClr val="1F2937"/>
                </a:solidFill>
                <a:latin typeface="Calibri"/>
              </a:defRPr>
            </a:pPr>
            <a:r>
              <a:t>Easy to visualize, handles non-linear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63240"/>
            <a:ext cx="4023360" cy="146304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200400"/>
            <a:ext cx="3749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Calibri"/>
              </a:defRPr>
            </a:pPr>
            <a:r>
              <a:t>Random Forest</a:t>
            </a:r>
          </a:p>
          <a:p>
            <a:pPr>
              <a:spcBef>
                <a:spcPts val="600"/>
              </a:spcBef>
              <a:defRPr sz="1300">
                <a:solidFill>
                  <a:srgbClr val="1F2937"/>
                </a:solidFill>
                <a:latin typeface="Calibri"/>
              </a:defRPr>
            </a:pPr>
            <a:r>
              <a:t>Ensemble of trees, robust and accurate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3063240"/>
            <a:ext cx="4023360" cy="146304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3200400"/>
            <a:ext cx="3749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C3AED"/>
                </a:solidFill>
                <a:latin typeface="Calibri"/>
              </a:defRPr>
            </a:pPr>
            <a:r>
              <a:t>Support Vector Machines</a:t>
            </a:r>
          </a:p>
          <a:p>
            <a:pPr>
              <a:spcBef>
                <a:spcPts val="600"/>
              </a:spcBef>
              <a:defRPr sz="1300">
                <a:solidFill>
                  <a:srgbClr val="1F2937"/>
                </a:solidFill>
                <a:latin typeface="Calibri"/>
              </a:defRPr>
            </a:pPr>
            <a:r>
              <a:t>Effective in high-dimensional spaces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754880"/>
            <a:ext cx="4023360" cy="146304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892040"/>
            <a:ext cx="3749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C4899"/>
                </a:solidFill>
                <a:latin typeface="Calibri"/>
              </a:defRPr>
            </a:pPr>
            <a:r>
              <a:t>k-Nearest Neighbors</a:t>
            </a:r>
          </a:p>
          <a:p>
            <a:pPr>
              <a:spcBef>
                <a:spcPts val="600"/>
              </a:spcBef>
              <a:defRPr sz="1300">
                <a:solidFill>
                  <a:srgbClr val="1F2937"/>
                </a:solidFill>
                <a:latin typeface="Calibri"/>
              </a:defRPr>
            </a:pPr>
            <a:r>
              <a:t>Classify by similarity to neighbors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4754880"/>
            <a:ext cx="4023360" cy="146304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4892040"/>
            <a:ext cx="3749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  <a:latin typeface="Calibri"/>
              </a:defRPr>
            </a:pPr>
            <a:r>
              <a:t>Neural Networks</a:t>
            </a:r>
          </a:p>
          <a:p>
            <a:pPr>
              <a:spcBef>
                <a:spcPts val="600"/>
              </a:spcBef>
              <a:defRPr sz="1300">
                <a:solidFill>
                  <a:srgbClr val="1F2937"/>
                </a:solidFill>
                <a:latin typeface="Calibri"/>
              </a:defRPr>
            </a:pPr>
            <a:r>
              <a:t>Deep learning for complex patterns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How Do We Measure Success?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Calibri"/>
              </a:defRPr>
            </a:pPr>
            <a:r>
              <a:t>Regression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E9F6E"/>
                </a:solidFill>
                <a:latin typeface="Calibri"/>
              </a:defRPr>
            </a:pPr>
            <a:r>
              <a:t>Classification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Mean Absolute Error (MAE)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Mean Squared Error (MSE)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Root Mean Squared Error (RMSE)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R² Score (coefficient of determination)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Accuracy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Precision &amp; Recall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F1 Score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ROC-AUC Curve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Confusion Matrix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Overfitting vs. Underfitting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2651760" cy="228600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9F6E"/>
                </a:solidFill>
                <a:latin typeface="Calibri"/>
              </a:defRPr>
            </a:pPr>
            <a:r>
              <a:t>Underfitting</a:t>
            </a:r>
          </a:p>
          <a:p>
            <a:pPr>
              <a:spcBef>
                <a:spcPts val="600"/>
              </a:spcBef>
              <a:defRPr sz="1300">
                <a:solidFill>
                  <a:srgbClr val="1F2937"/>
                </a:solidFill>
                <a:latin typeface="Calibri"/>
              </a:defRPr>
            </a:pPr>
            <a:r>
              <a:t>Model is too simple</a:t>
            </a:r>
            <a:br/>
            <a:r>
              <a:t>Fails to capture patterns</a:t>
            </a:r>
            <a:br/>
            <a:r>
              <a:t>High error on train AND 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463040"/>
            <a:ext cx="2651760" cy="228600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79" y="160020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56DB"/>
                </a:solidFill>
                <a:latin typeface="Calibri"/>
              </a:defRPr>
            </a:pPr>
            <a:r>
              <a:t>Good Fit</a:t>
            </a:r>
          </a:p>
          <a:p>
            <a:pPr>
              <a:spcBef>
                <a:spcPts val="600"/>
              </a:spcBef>
              <a:defRPr sz="1300">
                <a:solidFill>
                  <a:srgbClr val="1F2937"/>
                </a:solidFill>
                <a:latin typeface="Calibri"/>
              </a:defRPr>
            </a:pPr>
            <a:r>
              <a:t>Model captures true patterns</a:t>
            </a:r>
            <a:br/>
            <a:r>
              <a:t>Low error on both sets</a:t>
            </a:r>
            <a:br/>
            <a:r>
              <a:t>Generalizes well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463040"/>
            <a:ext cx="2651760" cy="228600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60020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  <a:latin typeface="Calibri"/>
              </a:defRPr>
            </a:pPr>
            <a:r>
              <a:t>Overfitting</a:t>
            </a:r>
          </a:p>
          <a:p>
            <a:pPr>
              <a:spcBef>
                <a:spcPts val="600"/>
              </a:spcBef>
              <a:defRPr sz="1300">
                <a:solidFill>
                  <a:srgbClr val="1F2937"/>
                </a:solidFill>
                <a:latin typeface="Calibri"/>
              </a:defRPr>
            </a:pPr>
            <a:r>
              <a:t>Model memorizes training data</a:t>
            </a:r>
            <a:br/>
            <a:r>
              <a:t>Low train error, high test error</a:t>
            </a:r>
            <a:br/>
            <a:r>
              <a:t>Fails on new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1480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Solutions: more data, regularization, cross-validation, simpler models, early stopping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Real-World Applications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4023360" cy="146304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3749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56DB"/>
                </a:solidFill>
                <a:latin typeface="Calibri"/>
              </a:defRPr>
            </a:pPr>
            <a:r>
              <a:t>Healthcare</a:t>
            </a:r>
          </a:p>
          <a:p>
            <a:pPr>
              <a:spcBef>
                <a:spcPts val="600"/>
              </a:spcBef>
              <a:defRPr sz="1300">
                <a:solidFill>
                  <a:srgbClr val="1F2937"/>
                </a:solidFill>
                <a:latin typeface="Calibri"/>
              </a:defRPr>
            </a:pPr>
            <a:r>
              <a:t>Disease diagnosis, drug discovery, patient risk scoring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371600"/>
            <a:ext cx="4023360" cy="146304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92040" y="1508760"/>
            <a:ext cx="3749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56DB"/>
                </a:solidFill>
                <a:latin typeface="Calibri"/>
              </a:defRPr>
            </a:pPr>
            <a:r>
              <a:t>Finance</a:t>
            </a:r>
          </a:p>
          <a:p>
            <a:pPr>
              <a:spcBef>
                <a:spcPts val="600"/>
              </a:spcBef>
              <a:defRPr sz="1300">
                <a:solidFill>
                  <a:srgbClr val="1F2937"/>
                </a:solidFill>
                <a:latin typeface="Calibri"/>
              </a:defRPr>
            </a:pPr>
            <a:r>
              <a:t>Credit scoring, fraud detection, algorithmic trading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63240"/>
            <a:ext cx="4023360" cy="146304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200400"/>
            <a:ext cx="3749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56DB"/>
                </a:solidFill>
                <a:latin typeface="Calibri"/>
              </a:defRPr>
            </a:pPr>
            <a:r>
              <a:t>Marketing</a:t>
            </a:r>
          </a:p>
          <a:p>
            <a:pPr>
              <a:spcBef>
                <a:spcPts val="600"/>
              </a:spcBef>
              <a:defRPr sz="1300">
                <a:solidFill>
                  <a:srgbClr val="1F2937"/>
                </a:solidFill>
                <a:latin typeface="Calibri"/>
              </a:defRPr>
            </a:pPr>
            <a:r>
              <a:t>Customer churn prediction, recommendation engines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3063240"/>
            <a:ext cx="4023360" cy="146304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3200400"/>
            <a:ext cx="3749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56DB"/>
                </a:solidFill>
                <a:latin typeface="Calibri"/>
              </a:defRPr>
            </a:pPr>
            <a:r>
              <a:t>Technology</a:t>
            </a:r>
          </a:p>
          <a:p>
            <a:pPr>
              <a:spcBef>
                <a:spcPts val="600"/>
              </a:spcBef>
              <a:defRPr sz="1300">
                <a:solidFill>
                  <a:srgbClr val="1F2937"/>
                </a:solidFill>
                <a:latin typeface="Calibri"/>
              </a:defRPr>
            </a:pPr>
            <a:r>
              <a:t>Spam filters, voice assistants, image recognition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754880"/>
            <a:ext cx="4023360" cy="146304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892040"/>
            <a:ext cx="3749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56DB"/>
                </a:solidFill>
                <a:latin typeface="Calibri"/>
              </a:defRPr>
            </a:pPr>
            <a:r>
              <a:t>Transportation</a:t>
            </a:r>
          </a:p>
          <a:p>
            <a:pPr>
              <a:spcBef>
                <a:spcPts val="600"/>
              </a:spcBef>
              <a:defRPr sz="1300">
                <a:solidFill>
                  <a:srgbClr val="1F2937"/>
                </a:solidFill>
                <a:latin typeface="Calibri"/>
              </a:defRPr>
            </a:pPr>
            <a:r>
              <a:t>Self-driving cars, route optimization, ETA prediction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4754880"/>
            <a:ext cx="4023360" cy="146304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4892040"/>
            <a:ext cx="3749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56DB"/>
                </a:solidFill>
                <a:latin typeface="Calibri"/>
              </a:defRPr>
            </a:pPr>
            <a:r>
              <a:t>Education</a:t>
            </a:r>
          </a:p>
          <a:p>
            <a:pPr>
              <a:spcBef>
                <a:spcPts val="600"/>
              </a:spcBef>
              <a:defRPr sz="1300">
                <a:solidFill>
                  <a:srgbClr val="1F2937"/>
                </a:solidFill>
                <a:latin typeface="Calibri"/>
              </a:defRPr>
            </a:pPr>
            <a:r>
              <a:t>Personalized learning, automated grading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Challenges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Data Quality — garbage in, garbage out; labels must be accurate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Bias &amp; Fairness — models can perpetuate societal biases in training data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Need for Labeled Data — labeling is expensive and time-consuming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Interpretability — complex models (deep learning) are "black boxes"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Distribution Shift — model performance drops when real-world data differs from training data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Ethical Concerns — privacy, accountability, and responsible AI use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6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Calibri"/>
              </a:defRPr>
            </a:pPr>
            <a:r>
              <a:t>✓  Supervised ML learns from labeled (input, output) pairs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Calibri"/>
              </a:defRPr>
            </a:pPr>
            <a:r>
              <a:t>✓  Two main tasks: Classification (categories) and Regression (numbers)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Calibri"/>
              </a:defRPr>
            </a:pPr>
            <a:r>
              <a:t>✓  Process: collect data → train model → evaluate →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605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Calibri"/>
              </a:defRPr>
            </a:pPr>
            <a:r>
              <a:t>✓  Choose the right algorithm and metrics for your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Calibri"/>
              </a:defRPr>
            </a:pPr>
            <a:r>
              <a:t>✓  Watch for overfitting and ensure data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